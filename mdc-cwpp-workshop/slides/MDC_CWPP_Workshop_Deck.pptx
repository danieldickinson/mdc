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7772400" y="0"/>
            <a:ext cx="4416552" cy="3200400"/>
          </a:xfrm>
          <a:prstGeom prst="rtTriangle">
            <a:avLst/>
          </a:prstGeom>
          <a:solidFill>
            <a:srgbClr val="333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9C24A"/>
                </a:solidFill>
                <a:latin typeface="Calibri"/>
              </a:rPr>
              <a:t>CWPP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Georgia"/>
              </a:rPr>
              <a:t>Microsoft Defender for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Hands-on workshop · 110 CWPP alert simulations across 11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6035040"/>
            <a:ext cx="1280160" cy="1371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CADCFC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1 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Full-day · 8 hours · 4 modules +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09:00–09:30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55448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Opening · MDC overview · CSPM vs CWPP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09:30–10:30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9456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Lab setup · enable plans · LAW/Sentinel · deploy resources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10:45–12:15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34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Module A · Defender for Servers + Containers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13:15–14:45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47472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Module B · Storage + SQL + App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148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15:00–16:15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11480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Module C · Key Vault + Resource Manager + DNS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16:15–17:15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75488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Module D · Open-source DBs + APIs + AI · Sentinel pivot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17:15–17:45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39496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Kill-chain demo · MITRE review · Q&amp;A · teardown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3774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Georgia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CADCFC"/>
                </a:solidFill>
                <a:latin typeface="Calibri"/>
              </a:rPr>
              <a:t>What MDC is, why CWPP matters, and where it sits in the security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212080"/>
            <a:ext cx="822960" cy="6400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What is Microsoft Defender for Cloud?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Unified cloud-native application protection across Azure, AWS, GCP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4380" y="17602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830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55648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CSPM — posture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7744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Inventory &amp; resource graph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Secure score, regulatory packs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AI-assisted remediation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3660" y="17602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830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55648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CWPP — workload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37744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Runtime threat detection on VMs, K8s, PaaS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Vulnerability scanning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MITRE-aligned alerts → Defender XDR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4380" y="41376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60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33088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Multi-cloud connectors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75488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AWS / GCP onboarding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Arc-enabled servers / Kubernetes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Containers in EKS / GKE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41376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160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133088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Defender XDR + Sentinel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75488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Alerts correlate into incidents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Sentinel for SIEM + SOAR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Workflow automation playbooks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CSPM vs CWPP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Two halves of cloud security — same console, different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03520" cy="493776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E2761"/>
                </a:solidFill>
                <a:latin typeface="Georgia"/>
              </a:rPr>
              <a:t>CSPM — Posture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183A"/>
                </a:solidFill>
                <a:latin typeface="Calibri"/>
              </a:rPr>
              <a:t>• Continuous configuration assessment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183A"/>
                </a:solidFill>
                <a:latin typeface="Calibri"/>
              </a:rPr>
              <a:t>• Recommendations &amp; remediations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183A"/>
                </a:solidFill>
                <a:latin typeface="Calibri"/>
              </a:rPr>
              <a:t>• Compliance dashboards (PCI, ISO, NIST)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183A"/>
                </a:solidFill>
                <a:latin typeface="Calibri"/>
              </a:rPr>
              <a:t>• Attack-path analysis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183A"/>
                </a:solidFill>
                <a:latin typeface="Calibri"/>
              </a:rPr>
              <a:t>• Agentless inventory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183A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183A"/>
                </a:solidFill>
                <a:latin typeface="Calibri"/>
              </a:rPr>
              <a:t>Output: secure score, recommendations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183A"/>
                </a:solidFill>
                <a:latin typeface="Calibri"/>
              </a:rPr>
              <a:t>Cadence: hours/days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183A"/>
                </a:solidFill>
                <a:latin typeface="Calibri"/>
              </a:rPr>
              <a:t>Personas: cloud architect, GRC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54480"/>
            <a:ext cx="5303520" cy="493776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916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CWPP — Workload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945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• Real-time alerting on workloads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• Runtime threat detection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• MDE for VMs, Defender for K8s, etc.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• File-integrity &amp; EDR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• Per-resource billing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Output: alerts → Sentinel/XDR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Cadence: seconds to minutes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Personas: SOC, 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CWPP plan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11 plans, one console — all enabled for this workshop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914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Servers (P2)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38F"/>
                </a:solidFill>
                <a:latin typeface="Calibri"/>
              </a:rPr>
              <a:t>Win/Linux VMs ·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MDE, FIM, JIT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554480"/>
            <a:ext cx="914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916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Containers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574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38F"/>
                </a:solidFill>
                <a:latin typeface="Calibri"/>
              </a:rPr>
              <a:t>AKS · EKS · GKE · Arc K8s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23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Defender profile, image scan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914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6916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Storage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574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38F"/>
                </a:solidFill>
                <a:latin typeface="Calibri"/>
              </a:rPr>
              <a:t>Blob · Files · ADLS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23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Malware scan, sensitive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55448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554480"/>
            <a:ext cx="914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6916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0574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38F"/>
                </a:solidFill>
                <a:latin typeface="Calibri"/>
              </a:rPr>
              <a:t>Azure SQL · MI · SQL on VM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423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Anomaly, vuln assessment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0896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108960"/>
            <a:ext cx="914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246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App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6118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38F"/>
                </a:solidFill>
                <a:latin typeface="Calibri"/>
              </a:rPr>
              <a:t>Win/Linux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776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Web shell, suspicious proc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310896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8960"/>
            <a:ext cx="914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3246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Key Vault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6118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38F"/>
                </a:solidFill>
                <a:latin typeface="Calibri"/>
              </a:rPr>
              <a:t>Per-vault sub-plan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9776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Mass enum, suspicious access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10896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108960"/>
            <a:ext cx="914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246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Resource Manager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6118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38F"/>
                </a:solidFill>
                <a:latin typeface="Calibri"/>
              </a:rPr>
              <a:t>Per-subscription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9776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Risky sign-in + ARM ops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310896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3108960"/>
            <a:ext cx="914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3246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DNS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6118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38F"/>
                </a:solidFill>
                <a:latin typeface="Calibri"/>
              </a:rPr>
              <a:t>via Servers P2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9776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Tunneling, DGA, mining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66344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4663440"/>
            <a:ext cx="914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800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OSS DBs / Cosmos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166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38F"/>
                </a:solidFill>
                <a:latin typeface="Calibri"/>
              </a:rPr>
              <a:t>PG · MySQL · Cosmos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532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Brute force, key abuse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0" y="466344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29000" y="4663440"/>
            <a:ext cx="914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0" y="4800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APIs (P1)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5166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38F"/>
                </a:solidFill>
                <a:latin typeface="Calibri"/>
              </a:rPr>
              <a:t>APIM-managed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5532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BOLA, sensitive exposure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466344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4663440"/>
            <a:ext cx="914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4800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AI Services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5166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38F"/>
                </a:solidFill>
                <a:latin typeface="Calibri"/>
              </a:rPr>
              <a:t>Azure OpenAI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60" y="5532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Prompt injection, jailbreak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Lab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One PoC subscription · 4 resource groups · everything tagged env=poc-mdc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420624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PoC subscription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52120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rg-mdc-edge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8892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Log Analytics + Sentinel + Key Vault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MDC connector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40280"/>
            <a:ext cx="52120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rg-mdc-servers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8892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Win VM · Linux VM · AKS (Defender profile)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VNet · NSG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06240"/>
            <a:ext cx="52120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434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rg-mdc-data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75488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Storage v2 · Azure SQL · PostgreSQL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MySQL · Cosmos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06240"/>
            <a:ext cx="52120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3434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rg-mdc-apps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75488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Linux App Service · APIM Developer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Azure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738F"/>
                </a:solidFill>
                <a:latin typeface="Calibri"/>
              </a:rPr>
              <a:t>Deploys in ~25 min via Bicep or Terraform. APIM Developer is the slowest module (~20 min).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Bicep or Terraform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Identical output, choose the toolchain that matches your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93776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Bicep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• Subscription-scope main.bicep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• 11 modules · ~700 lines total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• Faster to GA for new Azure RPs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• Microsoft-first toolchain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Run with: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az deployment sub create \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  --location westeurope \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  --template-file infra/main.bicep \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  --parameters @parameters.json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54480"/>
            <a:ext cx="5486400" cy="493776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916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E2761"/>
                </a:solidFill>
                <a:latin typeface="Georgia"/>
              </a:rPr>
              <a:t>Terraform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9456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• azurerm 4.x + azapi 2.x providers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• Same module layout as Bicep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• Multi-cloud or existing TF estate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• Better policy-as-code ecosystem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Run with: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terraform init &amp;&amp; \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  terraform apply \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183A"/>
                </a:solidFill>
                <a:latin typeface="Calibri"/>
              </a:rPr>
              <a:t>  -var-file=terraform.tfvars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3774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Georgia"/>
              </a:rPr>
              <a:t>Workload deep dives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CADCFC"/>
                </a:solidFill>
                <a:latin typeface="Calibri"/>
              </a:rPr>
              <a:t>11 plans · 110 scenarios · same drill every time: prerequisites → command → expected alert → cleanup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212080"/>
            <a:ext cx="822960" cy="6400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Defender for Servers (P2)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VMs · Arc-enabled hosts · powered by MDE + Defender Vulnerability Mgmt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P1 Servers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MDE auto-provisioning 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Win Defender / mdatp running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AMA + DCR sending data to LAW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C24A"/>
                </a:solidFill>
                <a:latin typeface="Georgia"/>
              </a:rPr>
              <a:t>Watch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Anomaly-based alerts (e.g. unusual login geography) need baseline data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— use signature-based scenarios first to guarantee visible alerts.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Highlight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S-SRV-01 EICAR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Drop EICAR on disk → AV detection · Low · T1204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2569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S-SRV-02 PS enc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25696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Encoded PowerShell download cradle · Medium · T1059.001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S-SRV-03 LSASS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36592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ProcDump LSASS memory · High · T1003.001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S-SRV-04 Brute SSH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4748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Hydra against sshd · Medium · T1110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58384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583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S-SRV-09 Disable AV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58384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Set-MpPreference -DisableRealtime · High · T1562.001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Defender for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AKS · EKS · GKE · Arc K8s — Defender profile + agentless image scanning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P2 Containers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Defender profile installed on AKS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kube-audit diagnostic to LAW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kubectl context = lab cluster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C24A"/>
                </a:solidFill>
                <a:latin typeface="Georgia"/>
              </a:rPr>
              <a:t>Watch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Privileged-pod alerts fire in 3–10 min; container runtime alerts depend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on Defender profile heartbeat. Verify with: az aks show --query securityProfile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Highlight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S-K8S-01 Priv pod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kubectl run --privileged · High · T1611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2569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S-K8S-02 hostPath 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25696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Pod mounts node root · High · T1611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S-K8S-04 Miner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36592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docker.io/kannix/monero-miner · High · T1496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S-K8S-06 SA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4748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Curl K8s API with mounted token · High · T1552.005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58384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583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S-K8S-08 cluster-admin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58384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Bind default SA to cluster-admin · High · T1078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Defender for Storage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Blob · Files · ADLS — on-upload malware scanning + sensitive data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P3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Defender for Storage v2 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Malware scanning ON (per account)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StorageBlobLogs → LAW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C24A"/>
                </a:solidFill>
                <a:latin typeface="Georgia"/>
              </a:rPr>
              <a:t>Watch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Fastest signal in MDC — malware scan alerts in &lt;2 min.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TI-based IP alerts depend on Microsoft's TI feed refresh.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Highlight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S-STO-01 EICAR blob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Upload EICAR → quarantine · Medium · T1204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2569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S-STO-02 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25696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Open SAS URL via Tor · High · T1090.003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S-STO-04 Anonymous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36592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Set container public + curl · High · T1530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S-STO-05 Mass extract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4748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azcopy bulk download · High · T1567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58384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583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S-STO-08 Mass 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58384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delete-batch · High · T1485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Defender for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Azure SQL DB · Managed Instance · SQL on VM/Arc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P4 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Auditing + Defender 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Diagnostic to LAW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Network rule allows attacker 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C24A"/>
                </a:solidFill>
                <a:latin typeface="Georgia"/>
              </a:rPr>
              <a:t>Watch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Anomaly alerts need a few hours of baseline.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Azure SQL DB blocks xp_cmdshell — use SQL Server VM for that scenario.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Highlight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S-SQL-01 SQLi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OR '1'='1' payload · High · T1190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2569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S-SQL-04 Brute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25696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30 failed logins · High · T1110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S-SQL-06 sqlmap UA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36592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Harmful app fingerprint · High · T1190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S-SQL-07 xp_cmdshell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4748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Enable + EXEC · High · T1059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58384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583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S-SQL-09 New principal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58384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First-time login alert · Medium · T1078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Defender for App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Web Apps · Function Apps · Logic Apps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P5 App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Plan ON at subscription level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Kudu/SCM accessible for tests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FTPS enabled for lab demos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C24A"/>
                </a:solidFill>
                <a:latin typeface="Georgia"/>
              </a:rPr>
              <a:t>Watch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Most App Service signals come from front-door + WAF logs;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for process-execution alerts you need a deliberately vulnerable demo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Highlight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S-APP-01 Web 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diag.aspx in wwwroot · High · T1505.003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2569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S-APP-03 Scanner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25696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nikto fingerprint · Medium · T1046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S-APP-07 C2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36592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Invoke-WebRequest to TI domain · High · T1071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S-APP-09 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4748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Browse via Tor · Medium · T1090.003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58384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583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S-APP-10 Kudu abuse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58384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POST /api/command · High · T1059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Defender for Key Vault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Per-vault sub-plan · data-plane alerting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P6 Key Vault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Diagnostic AuditEvent → LAW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Service principal with Get/List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Soft-delete + purge protection 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C24A"/>
                </a:solidFill>
                <a:latin typeface="Georgia"/>
              </a:rPr>
              <a:t>Watch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S-KV-10 will be rejected by Azure — that's the point.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The denial itself is the security signal we want logged.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Highlight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S-KV-01 Mass enum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for n in list; show $n · Medium · T1087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2569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S-KV-03 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25696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Data-plane call via Tor · High · T1090.003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S-KV-07 Policy + 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36592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set-policy then list · Medium · T1098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S-KV-08 Delete + recover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4748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Bulk delete then recover · High · T1485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58384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583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S-KV-10 Downgrade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58384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Attempt disable purge protection · High · T1562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Defender for Resource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Watches the control plane — sign-ins + ARM ops + Entra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P7 ARM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Plan ON · Entra ID logs in LAW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Risky-user policy on Entra (P2)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Subscription Activity → LAW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C24A"/>
                </a:solidFill>
                <a:latin typeface="Georgia"/>
              </a:rPr>
              <a:t>Watch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Best plan to surface 'insider' / supply-chain compromise.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Pair with Entra ID Identity Protection for highest fidelity.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Highlight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S-ARM-04 Wildcard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Custom role with Actions=[*] · High · T1098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2569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S-ARM-06 Mass 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25696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az group delete loop · High · T1485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S-ARM-07 Run-command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36592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vm run-command invoke · High · T1059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S-ARM-08 Disable diag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4748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Delete diagnosticSettings · High · T1562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58384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583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S-ARM-10 SP cred add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58384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credential reset --append · High · T1098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Defender for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Delivered via Servers P2 + MDE telemetry · no separate plan in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P8 DNS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MDE / mdatp on VMs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Outbound DNS through Azure resolvers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Outbound egress allowed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C24A"/>
                </a:solidFill>
                <a:latin typeface="Georgia"/>
              </a:rPr>
              <a:t>Watch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All DNS scenarios must run on a host with MDE/mdatp installed.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Azure-native DNS resolution alone won't surface these patterns.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Highlight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S-DNS-01 DGA burst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30 random subdomain lookups · Medium · T1568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2569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S-DNS-02 Tunneling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25696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Long TXT lookups · High · T1048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S-DNS-04 Mining pool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36592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nslookup pool.minexmr.com · Medium · T1496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S-DNS-07 Typosquat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4748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mircosoft.com etc. · Medium · T1566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58384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583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S-DNS-08 NXDOMAIN flood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58384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80 random lookups · Low · T1046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Defender for open-source DBs &amp; Cosmos 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PostgreSQL · MySQL · MariaDB flexible servers · Cosmos DB SQL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P9 OSS DBs + Cosmos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Plans ON · diagnostic to LAW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Public network ON (lab only)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Allowed CIDR includes attacker 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C24A"/>
                </a:solidFill>
                <a:latin typeface="Georgia"/>
              </a:rPr>
              <a:t>Watch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Managed PG/MySQL block many privileged ops by design.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The blocked attempt still generates an audit signal that MDC can act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Highlight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S-DB-01 PG brute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30 failed psql logins · High · T1110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2569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S-DB-05 Cosmos burst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25696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200 REST reads · High · T1567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S-DB-06 Cosmos keys regen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36592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az cosmosdb keys regenerate · Medium · T1098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S-DB-07 PG SUPERUSER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4748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Rejected — signal logged · High · T1136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58384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583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S-DB-08 Mysqldump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58384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Bulk schema dump · Medium · T1567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Defender for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APIM-managed APIs · onboard per-API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P10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APIM Developer or higher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Defender for APIs P1 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API onboarded → 'Protected'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C24A"/>
                </a:solidFill>
                <a:latin typeface="Georgia"/>
              </a:rPr>
              <a:t>Watch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Inventory + risk insights ship out of the box.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Sensitive-data detection requires APIM gateway logs to LAW.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Highlight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S-API-02 Unauth 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GET /users no auth · High · T1190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2569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S-API-03 sqlmap 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25696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Suspicious tool fingerprint · Medium · T1046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S-API-06 BOLA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36592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Iterate /orders/$id · High · T1087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S-API-07 401 spike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4748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200 bad-key calls · Medium · T1110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58384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583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S-API-10 Multi-geo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58384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Same key US/EU/APAC · High · T1078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Defender for AI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Azure OpenAI · content safety + prompt shields + threat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P11 AI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Azure OpenAI deployment (gpt-4o-mini)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Defender for AI 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Content safety policy = default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C24A"/>
                </a:solidFill>
                <a:latin typeface="Georgia"/>
              </a:rPr>
              <a:t>Watch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Newest plan — coverage evolves quickly.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Watch Microsoft Defender XDR for the richest signal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Highlight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S-AI-01 Prompt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Ignore previous instructions · High · T1190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2569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S-AI-02 Jailbreak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25696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DAN / persona attack · High · T1562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S-AI-03 PII in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36592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Send SSN/PAN · High · T1213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S-AI-09 ASCII smuggling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4748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Hidden Unicode tag chars · High · T1027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58384"/>
            <a:ext cx="11064240" cy="310896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583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S-AI-10 Malware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58384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83A"/>
                </a:solidFill>
                <a:latin typeface="Calibri"/>
              </a:rPr>
              <a:t>Write ransomware · High · T1204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3774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Georgia"/>
              </a:rPr>
              <a:t>Demo &amp;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CADCFC"/>
                </a:solidFill>
                <a:latin typeface="Calibri"/>
              </a:rPr>
              <a:t>Kill-chain storyboard · Sentinel pivot · automation · MITRE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212080"/>
            <a:ext cx="822960" cy="6400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Kill-chain demo storyboard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10 scenarios · 15 minutes live · every CWPP plan touched at least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4088" y="1572768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08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Georgia"/>
              </a:rPr>
              <a:t>S-API-03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5087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First foothold · sqlmap-style UA hits APIM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5087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1">
                <a:solidFill>
                  <a:srgbClr val="6B738F"/>
                </a:solidFill>
                <a:latin typeface="Calibri"/>
              </a:rPr>
              <a:t>TA0001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2075688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75688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011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Georgia"/>
              </a:rPr>
              <a:t>S-SRV-02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0116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Encoded PowerShell on Win VM (MDE alert)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0116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1">
                <a:solidFill>
                  <a:srgbClr val="6B738F"/>
                </a:solidFill>
                <a:latin typeface="Calibri"/>
              </a:rPr>
              <a:t>TA0002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51460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" y="2578608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78608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514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Georgia"/>
              </a:rPr>
              <a:t>S-SRV-03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5146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LSASS dump · ProcDump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514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1">
                <a:solidFill>
                  <a:srgbClr val="6B738F"/>
                </a:solidFill>
                <a:latin typeface="Calibri"/>
              </a:rPr>
              <a:t>TA0006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01752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4088" y="3081528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81528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Georgia"/>
              </a:rPr>
              <a:t>S-ARM-10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0175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SP credential added — persistence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1">
                <a:solidFill>
                  <a:srgbClr val="6B738F"/>
                </a:solidFill>
                <a:latin typeface="Calibri"/>
              </a:rPr>
              <a:t>TA0003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2044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4088" y="3584448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84448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3520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Georgia"/>
              </a:rPr>
              <a:t>S-ARM-04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35204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Wildcard custom role for priv-esc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5204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1">
                <a:solidFill>
                  <a:srgbClr val="6B738F"/>
                </a:solidFill>
                <a:latin typeface="Calibri"/>
              </a:rPr>
              <a:t>TA0004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02336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4088" y="4087368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087368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4023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Georgia"/>
              </a:rPr>
              <a:t>S-K8S-01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40233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Pivot to AKS · privileged pod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023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1">
                <a:solidFill>
                  <a:srgbClr val="6B738F"/>
                </a:solidFill>
                <a:latin typeface="Calibri"/>
              </a:rPr>
              <a:t>TA0004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52628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4088" y="4590288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590288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45262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Georgia"/>
              </a:rPr>
              <a:t>S-K8S-06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45262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SA token misuse from inside pod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5262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1">
                <a:solidFill>
                  <a:srgbClr val="6B738F"/>
                </a:solidFill>
                <a:latin typeface="Calibri"/>
              </a:rPr>
              <a:t>TA0006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02920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4088" y="5093208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093208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5880" y="5029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Georgia"/>
              </a:rPr>
              <a:t>S-STO-05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6120" y="50292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Data theft · mass blob extraction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5029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1">
                <a:solidFill>
                  <a:srgbClr val="6B738F"/>
                </a:solidFill>
                <a:latin typeface="Calibri"/>
              </a:rPr>
              <a:t>TA0010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53212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4088" y="5596128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596128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5880" y="5532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Georgia"/>
              </a:rPr>
              <a:t>S-ARM-08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46120" y="55321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Cover tracks · disable diagnostics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5532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1">
                <a:solidFill>
                  <a:srgbClr val="6B738F"/>
                </a:solidFill>
                <a:latin typeface="Calibri"/>
              </a:rPr>
              <a:t>TA0005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603504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04088" y="6099048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099048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25880" y="6035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Georgia"/>
              </a:rPr>
              <a:t>S-KV-08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46120" y="60350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Bulk delete + recover secrets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60350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1">
                <a:solidFill>
                  <a:srgbClr val="6B738F"/>
                </a:solidFill>
                <a:latin typeface="Calibri"/>
              </a:rPr>
              <a:t>TA0040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Sentinel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13 analytics rules · 2 playbooks · 1 workbook — shipped in the workshop pack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E2761"/>
                </a:solidFill>
                <a:latin typeface="Georgia"/>
              </a:rPr>
              <a:t>Analytics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EICAR · Encoded PS · LSASS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AKS privileged · Storage Tor/anon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SQL injection · KV mass enum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ARM bulk ops · DNS tunneling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API BOLA · AI prompt injection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Cross-plan kill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Playbooks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3172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• Post to Microsoft Teams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  – Logic App with Sentinel trigger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  – Posts Adaptive Card per incident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• Auto-isolate VM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  – Calls MDE isolateMachine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  – Tag-gated for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E2761"/>
                </a:solidFill>
                <a:latin typeface="Georgia"/>
              </a:rPr>
              <a:t>Workbook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3172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Alerts by severity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Alerts by plan / resource type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Stacked timechart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MITRE coverage bar chart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Recent alert table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• Drill into Defender XDR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Workflow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From alert to action — without writing custom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Email SOC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0876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MDC Environment Settings → Email notifications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600200"/>
            <a:ext cx="1371600" cy="320040"/>
          </a:xfrm>
          <a:prstGeom prst="roundRect">
            <a:avLst>
              <a:gd name="adj" fmla="val 4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6002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Built-in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7568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Teams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75688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Logic App connector → Teams channel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167128"/>
            <a:ext cx="1371600" cy="320040"/>
          </a:xfrm>
          <a:prstGeom prst="roundRect">
            <a:avLst>
              <a:gd name="adj" fmla="val 4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6712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Logic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42616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4261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Sentinel incident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642616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Data Connector → SecurityAlert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2734056"/>
            <a:ext cx="1371600" cy="320040"/>
          </a:xfrm>
          <a:prstGeom prst="roundRect">
            <a:avLst>
              <a:gd name="adj" fmla="val 4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73405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Built-in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09544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954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ServiceNow ticket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09544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Logic App with SN connector + AlertId mapping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3300984"/>
            <a:ext cx="1371600" cy="320040"/>
          </a:xfrm>
          <a:prstGeom prst="roundRect">
            <a:avLst>
              <a:gd name="adj" fmla="val 4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330098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Logic 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76472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7647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Auto-tag resource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77647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Recommendation triggered → Logic App tags resource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3867912"/>
            <a:ext cx="1371600" cy="320040"/>
          </a:xfrm>
          <a:prstGeom prst="roundRect">
            <a:avLst>
              <a:gd name="adj" fmla="val 4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86791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Logic 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4340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3434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Auto-isolate VM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3434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Sentinel incident → MDE /api/machines/.../isolate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4434840"/>
            <a:ext cx="1371600" cy="320040"/>
          </a:xfrm>
          <a:prstGeom prst="roundRect">
            <a:avLst>
              <a:gd name="adj" fmla="val 4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44348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Sentinel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910328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91032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Disable risky 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910328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IPC risk → Graph API disable user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5001768"/>
            <a:ext cx="1371600" cy="320040"/>
          </a:xfrm>
          <a:prstGeom prst="roundRect">
            <a:avLst>
              <a:gd name="adj" fmla="val 4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50017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Logic App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477256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47725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Rotate KV secret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477256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Mass-read alert → regenerate + push to consumer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5568696"/>
            <a:ext cx="1371600" cy="320040"/>
          </a:xfrm>
          <a:prstGeom prst="roundRect">
            <a:avLst>
              <a:gd name="adj" fmla="val 4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0" y="556869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Logic 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MITRE ATT&amp;CK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110 scenarios mapped to 12 tactics, 30+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384048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Initial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55448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T1078 · T1190 · T1566 · T1090.003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96596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T1059 · T1059.001 · T1059.004 · T1204 · T1609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64240" cy="384048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37744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T1053.003 · T1098 · T1136 · T1505.003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Privilege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8892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T1611 · T1078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11064240" cy="384048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Defense Evasion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0040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T1027 · T1562 · T1562.001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118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Credential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61188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T1003.001 · T1110 · T1552.005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11064240" cy="384048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02336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T1046 · T1087 · T1526 · T1530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3484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Collection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43484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T1213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46320"/>
            <a:ext cx="11064240" cy="384048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4632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Exfiltration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4632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T1048 · T1567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5780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Command &amp;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25780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T1071 · T1568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69280"/>
            <a:ext cx="11064240" cy="384048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6692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66928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T1485 · T1486 · T1496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KQL hunting notebooks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5 Jupyter notebooks — live investigation during the workshop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7220" y="1696212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CWPP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Alerts by severity / plan / time / MITRE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7220" y="2656332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060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Kill-chain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718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Drill into a single identity across plans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7220" y="3616452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033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Storage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31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Anon / Tor / mass-extract / mass-delete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7220" y="4576572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634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262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AKS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89204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Privileged pods · exec · cluster-admin bindings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7220" y="5536692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6235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4864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Key Vault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85216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Mass enum · denied spikes · policy + bulk 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Workshop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How to know each scenario worked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MDC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5448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Security alerts blade → filter by subscription, severity ≥ Medium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Defender XDR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9456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security.microsoft.com → Incidents · cross-product correlation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Sentinel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346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SecurityAlert + analytics-rule incidents · workbook tiles light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4747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MDC Environment settings · sev-Medium+ email to SOC alias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148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11480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Logic App posts an Adaptive Card per Sentinel incident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Georgia"/>
              </a:rPr>
              <a:t>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75488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az rest GET .../Microsoft.Security/alerts?api-version=2022-01-01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Cost &amp; cleanup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What a workshop day actually costs — and how to delete it cleanly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~€60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Workshop day · list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78308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880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End-to-end lab deploy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80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CWPP plans enabled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55448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78308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880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Scenarios in the runbook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11064240" cy="24688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9C24A"/>
                </a:solidFill>
                <a:latin typeface="Georgia"/>
              </a:rPr>
              <a:t>Teardown — one liner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onsolas"/>
              </a:rPr>
              <a:t>az group list --tag env=poc-mdc --query "[].name" -o tsv |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onsolas"/>
              </a:rPr>
              <a:t>  xargs -I{} az group delete -n {} --yes --no-wait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onsolas"/>
              </a:rPr>
              <a:t>for PLAN in VirtualMachines Containers StorageAccounts SqlServers AppServices KeyVaults Arm Dns OpenSourceRelationalDatabases CosmosDbs Api AI; do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onsolas"/>
              </a:rPr>
              <a:t>  az security pricing create --name $PLAN --tier Free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onsolas"/>
              </a:rPr>
              <a:t>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What you take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Everything attendees need is in the workshop GitHub repo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📘 RUNBOOK.md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23-section, ~45 KB workshop runbook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📊 Workshop matrix 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39112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18 sheets · scenario tracker · MITRE map · agendas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23744"/>
            <a:ext cx="11064240" cy="438912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23744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🛠 infra/ (Bicep)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23744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Subscription-scope deploy · 11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08376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🛠 terraform/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08376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azurerm + azapi · same modules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93008"/>
            <a:ext cx="11064240" cy="438912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93008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🛡 sentinel/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93008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13 analytics rules · 2 playbooks · 1 workbook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4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🧪 simulator/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77640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11 plan scripts · master simulator.sh · kill-chain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62272"/>
            <a:ext cx="11064240" cy="438912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62272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🔬 notebooks/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62272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5 KQL hunting notebooks for live investigation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46904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⚙️ .github/workflows/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46904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Bicep · Terraform · Sentinel · Notebooks · Docs CI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31536"/>
            <a:ext cx="11064240" cy="438912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📦 scripts/arm/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431536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Portal-ready foundation ARM + createUiDefinition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Safety reminders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Before you touch a real subscription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" cy="71323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Only in a PoC subscription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These simulations generate real attack telemetry. Run nowhere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40864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40864"/>
            <a:ext cx="109728" cy="71323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3230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Tell the SOC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2491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Inform your SOC at least 24h ahead. Provide simulator start/stop times.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27248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27248"/>
            <a:ext cx="109728" cy="71323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186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Tag everything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Use env=poc-mdc + owner=&lt;email&gt; + expires=&lt;date&gt;. Teardown depends on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13632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13632"/>
            <a:ext cx="109728" cy="71323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0507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Use synthetic data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976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Fake SSN/PAN, fake credentials, fake users. Never real customer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00016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00016"/>
            <a:ext cx="109728" cy="71323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9145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Cost-cap up front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8406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$500/day budget alert on the subscription. APIM and AKS dominate spend.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109728" cy="71323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Delete 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704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alibri"/>
              </a:rPr>
              <a:t>Same-day teardown is non-negotiable — APIM Developer + AKS run €€.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7772400" y="0"/>
            <a:ext cx="4416552" cy="3200400"/>
          </a:xfrm>
          <a:prstGeom prst="rtTriangle">
            <a:avLst/>
          </a:prstGeom>
          <a:solidFill>
            <a:srgbClr val="333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0" b="1" i="0">
                <a:solidFill>
                  <a:srgbClr val="FFFFFF"/>
                </a:solidFill>
                <a:latin typeface="Georgia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CADCFC"/>
                </a:solidFill>
                <a:latin typeface="Calibri"/>
              </a:rPr>
              <a:t>Ask anything · pricing · GA status · integration with Defender XDR · post-PoC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486400"/>
            <a:ext cx="822960" cy="6400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CADCFC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References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738F"/>
                </a:solidFill>
                <a:latin typeface="Calibri"/>
              </a:rPr>
              <a:t>Bookmarks for after the workshop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384048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MDC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544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onsolas"/>
              </a:rPr>
              <a:t>learn.microsoft.com/azure/defender-for-cloud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Alert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75104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onsolas"/>
              </a:rPr>
              <a:t>learn.microsoft.com/azure/defender-for-cloud/alert-validation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95728"/>
            <a:ext cx="11064240" cy="384048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957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Alert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95728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onsolas"/>
              </a:rPr>
              <a:t>learn.microsoft.com/azure/defender-for-cloud/alerts-reference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1635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Defender for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1635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onsolas"/>
              </a:rPr>
              <a:t>learn.microsoft.com/azure/defender-for-cloud/defender-for-apis-introduction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36976"/>
            <a:ext cx="11064240" cy="384048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36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Defender for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36976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onsolas"/>
              </a:rPr>
              <a:t>learn.microsoft.com/azure/defender-for-cloud/ai-threat-protection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5760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Sentinel content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65760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onsolas"/>
              </a:rPr>
              <a:t>learn.microsoft.com/azure/sentinel/sentinel-solutions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78224"/>
            <a:ext cx="11064240" cy="384048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782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MITRE ATT&amp;CK matrices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078224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onsolas"/>
              </a:rPr>
              <a:t>attack.mitre.org/matrices/enterprise/cloud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9884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Georgia"/>
              </a:rPr>
              <a:t>EICAR test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498848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83A"/>
                </a:solidFill>
                <a:latin typeface="Consolas"/>
              </a:rPr>
              <a:t>eicar.org/download-anti-malware-testfile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738F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38F"/>
                </a:solidFill>
                <a:latin typeface="Calibri"/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7772400" y="0"/>
            <a:ext cx="4416552" cy="3200400"/>
          </a:xfrm>
          <a:prstGeom prst="rtTriangle">
            <a:avLst/>
          </a:prstGeom>
          <a:solidFill>
            <a:srgbClr val="333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9C24A"/>
                </a:solidFill>
                <a:latin typeface="Calibri"/>
              </a:rPr>
              <a:t>SEE YOU IN THE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Georgia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Use the runbook · open the notebooks · trigger an alert · investigate live.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6035040"/>
            <a:ext cx="1280160" cy="1371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CADCFC"/>
                </a:solidFill>
                <a:latin typeface="Calibri"/>
              </a:rPr>
              <a:t>MDC CWPP Workshop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